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000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minutos. Abrir contextualizando: supermercado tradicional de 4.200 SKUs, com choques simultâneos (F4 LT +50%, F2 promoção +55%). Cada card representa um sintoma observável dos 24 meses de histórico. Mensagem: o problema não é operacional, é estrutural — previsão + políticas + governança.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Apresentar os 3 KPIs como triângulo de ferro. Destacar que as 3 dimensões são acopladas — não se pode otimizar uma sem pagar preço nas outras. É por isso que o PCP precisa de simulação para mapear a fronteira eficiente. Essa ideia volta em Q11-Q12.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As 4 camadas se retroalimentam — dados ruins geram processos informais que viram governança reativa. Mensagem-chave: não existe bala de prata, mas há sequência: dados primeiro, processos depois, sistemas e governança em paralelo.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Mostrar a figura: em F1-001 (esquerda), Holt-Winters (roxo) acompanha as oscilações enquanto os outros 3 modelos ficam planos. Em F2-003 (direita), todos os modelos ficam praticamente no mesmo patamar e erram muito — a demanda é inerentemente imprevisível. Implicação: o modelo tem que se adaptar ao perfil da família, não o contrário. Isso motiva Q8.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Este é o slide mais técnico — vale explicar com calma. Syntetos-Boylan usa ADI (intervalo médio entre demandas não-zero) e CV² para classificar séries. Mas na Vila Aurora quase não há semanas zeradas → ADI ≈ 1 para todas. Solução: usar só CV² como proxy prático. O gráfico mostra F2 e F5 claramente destacadas no CV².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 minuto — slide-âncora. Três mensagens: (1) heatmap mostra como os modelos performam em cada família; (2) recomendação final na tabela direita — destaque para Naive em F1/F4 (parcimônia vence marginalmente Winters) e Winters em F3 (ganho real); (3) insights de baixo são o 'elevator pitch': 80% fica em Excel, só F3 migra.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 minuto. Este é o slide mais importante. Mostrar a cadeia: RMSE vira SS, SS insuficiente vira ruptura, ruptura vira R$ perdido + CO₂. Contraste essencial: F1 tem LT curto, então ruptura é remediável via viagem extra. F2 tem LT 14 dias, ruptura é PERMANENTE. Observação sobre fill rate: F1 está abaixo do alvo 97% porque H-W não capturou picos no período de teste — isso mostra que modelo sozinho não basta, precisa política de estoque robusta (vem no Bloco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segundos. Dois pontos: (1) magnitude do problema — R$ 278k/ano só em 2 famílias com política recomendada (número real é pior na operação atual); (2) o callout de baixo é o 'punch line' — 2 semanas fixas é política de quem não tem modelo; resultado é capital parado E descarte. Oxymoron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segundos de fechamento. Recapitular as 4 entregas do parcial (os checks) e apontar o caminho: Q10-15 fazem a ponte do diagnóstico para o plano executável — simulação para escolher política, dashboard e roadmap de 90 dias. Encerrar com abertura para perguntas (5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6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F2A55"/>
          </a:solidFill>
          <a:ln w="12700">
            <a:solidFill>
              <a:srgbClr val="0F2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A1F40"/>
          </a:solidFill>
          <a:ln w="12700">
            <a:solidFill>
              <a:srgbClr val="0A1F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ENG4550 — Projeto Integrado em Sistemas Produtivos (PI5)</a:t>
            </a:r>
            <a:endParaRPr lang="en-US" sz="1400" b="1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Vila Aurora Alimentos &amp; Mercearia S.A.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E6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Caos à Orquestração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Transformando previsão, estoques e execução no varejo tradicional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Cenário em análise: Lead Time Instável em Congelados + Choque Promocional em Premium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577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João Almeida  •  Lucas Agostinho  •  Gabriel Stadler  •  Felipe Sarmento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8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Abril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682"/>
          </a:solidFill>
          <a:ln w="12700">
            <a:solidFill>
              <a:srgbClr val="1E46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a Vila Aurora em 3 sintomas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20095" y="228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Vila Aurora — Relatório Parcial 1  •  ENG4550 PI5  •  Abril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Varejo tradicional, 4.200 SKUs em 5 famílias, operando em ciclo reativo — 24 meses de dados revelam três sintomas críticos.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5400000" algn="bl" rotWithShape="0">
              <a:srgbClr val="B0B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356616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 médio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4343400"/>
            <a:ext cx="2103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Meta: 97%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Pior mês: 84% (dez/2025)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29% dos meses abaixo de 90%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2011680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5400000" algn="bl" rotWithShape="0">
              <a:srgbClr val="B0B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43400" y="2011680"/>
            <a:ext cx="3566160" cy="91440"/>
          </a:xfrm>
          <a:prstGeom prst="rect">
            <a:avLst/>
          </a:prstGeom>
          <a:solidFill>
            <a:srgbClr val="E68A1E"/>
          </a:solidFill>
          <a:ln w="12700">
            <a:solidFill>
              <a:srgbClr val="E6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43400" y="23774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6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14,2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4526280" y="3840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Viagens extras/mês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74920" y="4343400"/>
            <a:ext cx="2103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17720" y="44805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Limite ESG: 15 viagens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Pico histórico: 21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R$ 1.250 + 42 kg CO₂ por viagem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2011680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5400000" algn="bl" rotWithShape="0">
              <a:srgbClr val="B0B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46720" y="2011680"/>
            <a:ext cx="3566160" cy="91440"/>
          </a:xfrm>
          <a:prstGeom prst="rect">
            <a:avLst/>
          </a:prstGeom>
          <a:solidFill>
            <a:srgbClr val="1E4682"/>
          </a:solidFill>
          <a:ln w="12700">
            <a:solidFill>
              <a:srgbClr val="1E46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46720" y="23774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R$ 31k</a:t>
            </a:r>
            <a:endParaRPr lang="en-US" sz="7200" dirty="0"/>
          </a:p>
        </p:txBody>
      </p:sp>
      <p:sp>
        <p:nvSpPr>
          <p:cNvPr id="22" name="Text 20"/>
          <p:cNvSpPr/>
          <p:nvPr/>
        </p:nvSpPr>
        <p:spPr>
          <a:xfrm>
            <a:off x="8229600" y="3840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Descarte/mês (24 meses)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778240" y="4343400"/>
            <a:ext cx="2103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21040" y="44805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Pico: R$ 53,7k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Tendência: +6,9% no último semestre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F1 concentra ~R$ 38k (P8)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760720"/>
            <a:ext cx="10911535" cy="548640"/>
          </a:xfrm>
          <a:prstGeom prst="rect">
            <a:avLst/>
          </a:prstGeom>
          <a:solidFill>
            <a:srgbClr val="F5F8FB"/>
          </a:solidFill>
          <a:ln w="12700">
            <a:solidFill>
              <a:srgbClr val="5B7D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576072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diagnóstico: </a:t>
            </a:r>
            <a:r>
              <a:rPr lang="en-US" sz="14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previsão genérica + políticas de estoque uniformes + ausência de S&amp;OE — tudo alimentando um ciclo reativo.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682"/>
          </a:solidFill>
          <a:ln w="12700">
            <a:solidFill>
              <a:srgbClr val="1E46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estratégicos — o triângulo de ferro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20095" y="228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Vila Aurora — Relatório Parcial 1  •  ENG4550 PI5  •  Abril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Três KPIs não-negociáveis, um por dimensão, acoplados por natureza.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5400000" algn="bl" rotWithShape="0">
              <a:srgbClr val="B0B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365760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 Ponderado por Canal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97%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4206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039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Baseline: 91,1%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4617720"/>
            <a:ext cx="21945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4709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Pesos: loja 70%, e-commerce 15%, marketplace 10%, retira 5%. Captura sub-performance do digital (NPS 32 vs 68 loja).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07408" y="169164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5400000" algn="bl" rotWithShape="0">
              <a:srgbClr val="B0B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07408" y="1691640"/>
            <a:ext cx="3657600" cy="548640"/>
          </a:xfrm>
          <a:prstGeom prst="rect">
            <a:avLst/>
          </a:prstGeom>
          <a:solidFill>
            <a:srgbClr val="1E4682"/>
          </a:solidFill>
          <a:ln w="12700">
            <a:solidFill>
              <a:srgbClr val="1E46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07408" y="1691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36008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Logístico / Receita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90288" y="33375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6,5%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90288" y="4206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039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Baseline: ~8,2%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38928" y="4617720"/>
            <a:ext cx="21945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81728" y="4709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Pedido + armazenagem + ruptura + descarte + viagens extras / receita líquida. Meta = redução de 20% vs baseline.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74736" y="169164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5400000" algn="bl" rotWithShape="0">
              <a:srgbClr val="B0B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174736" y="1691640"/>
            <a:ext cx="3657600" cy="548640"/>
          </a:xfrm>
          <a:prstGeom prst="rect">
            <a:avLst/>
          </a:prstGeom>
          <a:solidFill>
            <a:srgbClr val="E68A1E"/>
          </a:solidFill>
          <a:ln w="12700">
            <a:solidFill>
              <a:srgbClr val="E6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74736" y="1691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03336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Desperdício Zero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57616" y="33375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Descarte ≤ 2%  +  Viagens ≤ 10/mês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357616" y="4206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039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Baseline: 4,5% em F1  +  14,2 viagens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906256" y="4617720"/>
            <a:ext cx="21945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449056" y="4709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Índice composto. Combinação evita trade-off perverso (reduzir descarte aumentando entregas emergenciais).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solidFill>
            <a:srgbClr val="F5F8FB"/>
          </a:solidFill>
          <a:ln w="12700">
            <a:solidFill>
              <a:srgbClr val="5B7D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" y="585216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Acoplamento: </a:t>
            </a:r>
            <a:r>
              <a:rPr lang="en-US" sz="13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subir fill rate exige mais estoque de segurança → eleva custo e descarte. Reduzir viagens pode derrubar fill rate. </a:t>
            </a:r>
            <a:r>
              <a:rPr lang="en-US" sz="1300" i="1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Monte Carlo (Bloco 4) mapeia a fronteira eficiente.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682"/>
          </a:solidFill>
          <a:ln w="12700">
            <a:solidFill>
              <a:srgbClr val="1E46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4 camadas de disfunção que se retroalimentam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20095" y="228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Vila Aurora — Relatório Parcial 1  •  ENG4550 PI5  •  Abril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 problema central não é operacional — é estrutural. Ciclo vicioso acumula falhas em dados, sistemas, processos e governança.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91153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5400000" algn="bl" rotWithShape="0">
              <a:srgbClr val="B0B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109728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920240" y="178308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IMPERFEITOS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20240" y="2148840"/>
            <a:ext cx="94484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12% SKUs sem EAN • WMS com 8% de falhas de baixa (120 h/mês recontagem) • e-commerce com 4h de delay (6% cancelamento)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1091153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5400000" algn="bl" rotWithShape="0">
              <a:srgbClr val="B0B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1097280" cy="960120"/>
          </a:xfrm>
          <a:prstGeom prst="rect">
            <a:avLst/>
          </a:prstGeom>
          <a:solidFill>
            <a:srgbClr val="E68A1E"/>
          </a:solidFill>
          <a:ln w="12700">
            <a:solidFill>
              <a:srgbClr val="E6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788920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920240" y="288036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6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DESINTEGRADOS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20240" y="3246120"/>
            <a:ext cx="94484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ERP, WMS, TMS e e-commerce como silos • Sem visão unificada • BI com 48h de defasagem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1091153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5400000" algn="bl" rotWithShape="0">
              <a:srgbClr val="B0B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080" y="3886200"/>
            <a:ext cx="1097280" cy="9601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886200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920240" y="397764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INFORMAIS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920240" y="4343400"/>
            <a:ext cx="94484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Sem rotina de S&amp;OE • Decisões por WhatsApp • Promoções sem aviso prévio • Sem classificação ABC/XYZ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1091153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5400000" algn="bl" rotWithShape="0">
              <a:srgbClr val="B0B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" y="4983480"/>
            <a:ext cx="1097280" cy="960120"/>
          </a:xfrm>
          <a:prstGeom prst="rect">
            <a:avLst/>
          </a:prstGeom>
          <a:solidFill>
            <a:srgbClr val="1E4682"/>
          </a:solidFill>
          <a:ln w="12700">
            <a:solidFill>
              <a:srgbClr val="1E46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983480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1920240" y="50749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FRÁGIL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920240" y="5440680"/>
            <a:ext cx="94484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Sem fórum formal de trade-off • Cada área otimiza KPI isoladamente • Mudança cultural pendente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6080760"/>
            <a:ext cx="10911535" cy="457200"/>
          </a:xfrm>
          <a:prstGeom prst="rect">
            <a:avLst/>
          </a:prstGeom>
          <a:solidFill>
            <a:srgbClr val="F5F8FB"/>
          </a:solidFill>
          <a:ln w="12700">
            <a:solidFill>
              <a:srgbClr val="5B7D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" y="608076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Estratégia: </a:t>
            </a:r>
            <a:r>
              <a:rPr lang="en-US" sz="13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atacar em paralelo, começando pela Camada 1 (quick wins de dados) que habilita as demais.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682"/>
          </a:solidFill>
          <a:ln w="12700">
            <a:solidFill>
              <a:srgbClr val="1E46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Q4 — complexidade paga?  depende da família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20095" y="228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Vila Aurora — Relatório Parcial 1  •  ENG4550 PI5  •  Abril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Naive vs ETS em 2 SKUs contrastantes  •  split 80/24 semanas  •  F1-001 smooth  |  F2-003 erratic</a:t>
            </a:r>
            <a:endParaRPr lang="en-US" sz="1400" dirty="0"/>
          </a:p>
        </p:txBody>
      </p:sp>
      <p:pic>
        <p:nvPicPr>
          <p:cNvPr id="7" name="Image 0" descr="/home/claude/vila_aurora/outputs/figures/q4_benchmark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554480"/>
            <a:ext cx="7315200" cy="4846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46720" y="169164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5400000" algn="bl" rotWithShape="0">
              <a:srgbClr val="B0B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275320" y="192024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753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91540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F1-001 (Leite)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91540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Smooth com sazonalidade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321040" y="2651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vence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21040" y="3108960"/>
            <a:ext cx="32004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321040" y="32004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RMSE 264 (−8% vs Naive)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MAPE 18,2%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Captura picos sazonais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46720" y="411480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5400000" algn="bl" rotWithShape="0">
              <a:srgbClr val="B0B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275320" y="4343400"/>
            <a:ext cx="502920" cy="502920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27532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915400" y="4343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F2-003 (Vinho)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915400" y="4617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Erratic, alta variância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321040" y="5074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Empate técnico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321040" y="5532120"/>
            <a:ext cx="32004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321040" y="56235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RMSE ~38-40 em todos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MAPE ~60% em todos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Complexidade não adiciona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682"/>
          </a:solidFill>
          <a:ln w="12700">
            <a:solidFill>
              <a:srgbClr val="1E46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perfil das 5 famílias  •  achado metodológico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20095" y="228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Vila Aurora — Relatório Parcial 1  •  ENG4550 PI5  •  Abril 2026</a:t>
            </a:r>
            <a:endParaRPr lang="en-US" sz="900" dirty="0"/>
          </a:p>
        </p:txBody>
      </p:sp>
      <p:pic>
        <p:nvPicPr>
          <p:cNvPr id="6" name="Image 0" descr="/home/claude/vila_aurora/outputs/figures/q8_perfil_demand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6217920" cy="5212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0" y="1097280"/>
            <a:ext cx="4937760" cy="2194560"/>
          </a:xfrm>
          <a:prstGeom prst="rect">
            <a:avLst/>
          </a:prstGeom>
          <a:solidFill>
            <a:srgbClr val="FFF4E6"/>
          </a:solidFill>
          <a:ln w="25400">
            <a:solidFill>
              <a:srgbClr val="E6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04088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dirty="0" err="1">
                <a:solidFill>
                  <a:srgbClr val="E6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</a:t>
            </a:r>
            <a:r>
              <a:rPr lang="en-US" sz="1500" b="1" kern="0" dirty="0">
                <a:solidFill>
                  <a:srgbClr val="E6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metodológico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040880" y="15544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Syntetos-Boylan clássico classifica todas as 5 famílias como Smooth — porque ADI ≈ 1,0 (não há zeros significativos nas séries).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040880" y="2514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adaptação: </a:t>
            </a:r>
            <a:r>
              <a:rPr lang="en-US" sz="12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classificar por CV² isolado. Cortes: &lt; 0,15 = smooth puro  •  ≥ 0,35 = erratic/lumpy.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3566160"/>
          <a:ext cx="4937760" cy="208483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Família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6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CV² obs.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6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Classificação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6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F3 Mercearia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0,02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Smooth puro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F1 Perecíveis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0,05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Smooth puro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F4 Congelados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0,13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Smooth puro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F2 Premium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0,35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Erratic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F5 Bebidas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0,37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Erratic/Lumpy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682"/>
          </a:solidFill>
          <a:ln w="12700">
            <a:solidFill>
              <a:srgbClr val="1E46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matriz de recomendação: modelo certo por família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20095" y="228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Vila Aurora — Relatório Parcial 1  •  ENG4550 PI5  •  Abril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modelos × 5 famílias com backtest 80/24 semanas. Critério: menor RMSE com parcimônia (tolerância 5%).</a:t>
            </a:r>
            <a:endParaRPr lang="en-US" sz="1400" dirty="0"/>
          </a:p>
        </p:txBody>
      </p:sp>
      <p:pic>
        <p:nvPicPr>
          <p:cNvPr id="7" name="Image 0" descr="/home/claude/vila_aurora/outputs/figures/q8_comparativo_modelo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554480"/>
            <a:ext cx="6858000" cy="301752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645920"/>
          <a:ext cx="4846320" cy="27432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Família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6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Perfil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6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Modelo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6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MAPE %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6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Viabilidade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6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F1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Smooth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Naive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18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Excel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F2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Erratic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MA(4)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60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Excel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F3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Smooth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68A1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Winters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9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Python/R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F4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Smooth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Naive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26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Excel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F5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Erratic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SES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82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Excel+</a:t>
                      </a:r>
                      <a:endParaRPr lang="en-US" sz="11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846320"/>
            <a:ext cx="5486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5400000" algn="bl" rotWithShape="0">
              <a:srgbClr val="B0B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57200" y="4846320"/>
            <a:ext cx="73152" cy="1645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40080" y="49834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800" dirty="0"/>
          </a:p>
        </p:txBody>
      </p:sp>
      <p:sp>
        <p:nvSpPr>
          <p:cNvPr id="12" name="Text 8"/>
          <p:cNvSpPr/>
          <p:nvPr/>
        </p:nvSpPr>
        <p:spPr>
          <a:xfrm>
            <a:off x="2286000" y="50292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portfólio cabe em Excel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286000" y="553212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F1, F2, F4, F5 usam modelos simples (Naive, MA(4), SES). Não precisa cientista de dados dedicado para começar.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4846320"/>
            <a:ext cx="5486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5400000" algn="bl" rotWithShape="0">
              <a:srgbClr val="B0B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217920" y="4846320"/>
            <a:ext cx="73152" cy="1645920"/>
          </a:xfrm>
          <a:prstGeom prst="rect">
            <a:avLst/>
          </a:prstGeom>
          <a:solidFill>
            <a:srgbClr val="E68A1E"/>
          </a:solidFill>
          <a:ln w="12700">
            <a:solidFill>
              <a:srgbClr val="E6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400800" y="49834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6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−33%</a:t>
            </a:r>
            <a:endParaRPr lang="en-US" sz="4800" dirty="0"/>
          </a:p>
        </p:txBody>
      </p:sp>
      <p:sp>
        <p:nvSpPr>
          <p:cNvPr id="17" name="Text 13"/>
          <p:cNvSpPr/>
          <p:nvPr/>
        </p:nvSpPr>
        <p:spPr>
          <a:xfrm>
            <a:off x="8046720" y="50292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em F3 com Winters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8046720" y="553212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única família onde complexidade paga claramente. RMSE 503 vs 746 Naive. Justifica migração para Python/R.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682"/>
          </a:solidFill>
          <a:ln w="12700">
            <a:solidFill>
              <a:srgbClr val="1E46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cadeia causal: erro de previsão → impacto real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20095" y="228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Vila Aurora — Relatório Parcial 1  •  ENG4550 PI5  •  Abril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F1 (Perecíveis, smooth, LT 2d)  ×  F2 (Premium, erratic, LT 14d) — par contrastante genuíno</a:t>
            </a:r>
            <a:endParaRPr lang="en-US" sz="1400" dirty="0"/>
          </a:p>
        </p:txBody>
      </p:sp>
      <p:pic>
        <p:nvPicPr>
          <p:cNvPr id="7" name="Image 0" descr="/home/claude/vila_aurora/outputs/figures/q9_cadeia_caus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508760"/>
            <a:ext cx="8046720" cy="4846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03920" y="1691640"/>
            <a:ext cx="33832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5400000" algn="bl" rotWithShape="0">
              <a:srgbClr val="B0B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0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contrastante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0" y="2194560"/>
            <a:ext cx="3017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0" y="2331720"/>
            <a:ext cx="9144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869680" y="2331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— PERECÍVEIS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869680" y="26060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</a:t>
            </a:r>
            <a:r>
              <a:rPr lang="en-US" sz="11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816 un/sem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recom.:</a:t>
            </a:r>
            <a:r>
              <a:rPr lang="en-US" sz="11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821 un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Rupturas:</a:t>
            </a:r>
            <a:r>
              <a:rPr lang="en-US" sz="11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4 sem (16,7%)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 sim.:</a:t>
            </a:r>
            <a:r>
              <a:rPr lang="en-US" sz="1100" dirty="0">
                <a:solidFill>
                  <a:srgbClr val="C039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95% (alvo 97%)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perdida:</a:t>
            </a:r>
            <a:r>
              <a:rPr lang="en-US" sz="1100" dirty="0">
                <a:solidFill>
                  <a:srgbClr val="C039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R$ 43,7k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86800" y="4160520"/>
            <a:ext cx="91440" cy="164592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869680" y="4160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2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— PREMIUM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869680" y="44348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</a:t>
            </a:r>
            <a:r>
              <a:rPr lang="en-US" sz="11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179 un/sem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recom.:</a:t>
            </a:r>
            <a:r>
              <a:rPr lang="en-US" sz="11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325 un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Rupturas:</a:t>
            </a:r>
            <a:r>
              <a:rPr lang="en-US" sz="11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1 sem (4,2%)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 sim.:</a:t>
            </a:r>
            <a:r>
              <a:rPr lang="en-US" sz="1100" dirty="0">
                <a:solidFill>
                  <a:srgbClr val="2E7D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97% (alvo 90%)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perdida:</a:t>
            </a:r>
            <a:r>
              <a:rPr lang="en-US" sz="1100" dirty="0">
                <a:solidFill>
                  <a:srgbClr val="C0392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R$ 15,3k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686800" y="5852160"/>
            <a:ext cx="3017520" cy="365760"/>
          </a:xfrm>
          <a:prstGeom prst="rect">
            <a:avLst/>
          </a:prstGeom>
          <a:solidFill>
            <a:srgbClr val="FFF4E6"/>
          </a:solidFill>
          <a:ln w="12700">
            <a:solidFill>
              <a:srgbClr val="E6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732520" y="5852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permite viagens; F2 vira venda perdida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682"/>
          </a:solidFill>
          <a:ln w="12700">
            <a:solidFill>
              <a:srgbClr val="1E46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impacto financeiro anual e reforma do estoque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20095" y="228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Vila Aurora — Relatório Parcial 1  •  ENG4550 PI5  •  Abril 2026</a:t>
            </a:r>
            <a:endParaRPr lang="en-US" sz="900" dirty="0"/>
          </a:p>
        </p:txBody>
      </p:sp>
      <p:pic>
        <p:nvPicPr>
          <p:cNvPr id="6" name="Image 0" descr="/home/claude/vila_aurora/outputs/figures/q9_impacto_financeir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280160"/>
            <a:ext cx="777240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371600"/>
            <a:ext cx="3657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5400000" algn="bl" rotWithShape="0">
              <a:srgbClr val="B0B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229600" y="1371600"/>
            <a:ext cx="73152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458200" y="14630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R$ 209k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45820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F1 / ano — falhas de previsão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0" y="2606040"/>
            <a:ext cx="3657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5400000" algn="bl" rotWithShape="0">
              <a:srgbClr val="B0B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229600" y="2606040"/>
            <a:ext cx="73152" cy="1143000"/>
          </a:xfrm>
          <a:prstGeom prst="rect">
            <a:avLst/>
          </a:prstGeom>
          <a:solidFill>
            <a:srgbClr val="E68A1E"/>
          </a:solidFill>
          <a:ln w="12700">
            <a:solidFill>
              <a:srgbClr val="E6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458200" y="26974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R$ 69k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458200" y="3291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F2 / ano — só venda perdida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0" y="3840480"/>
            <a:ext cx="3657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5400000" algn="bl" rotWithShape="0">
              <a:srgbClr val="B0B0B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229600" y="3840480"/>
            <a:ext cx="73152" cy="1143000"/>
          </a:xfrm>
          <a:prstGeom prst="rect">
            <a:avLst/>
          </a:prstGeom>
          <a:solidFill>
            <a:srgbClr val="1E4682"/>
          </a:solidFill>
          <a:ln w="12700">
            <a:solidFill>
              <a:srgbClr val="1E46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58200" y="39319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R$ 278k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8458200" y="4526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 2 famílias combinadas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5394960"/>
            <a:ext cx="11277295" cy="1005840"/>
          </a:xfrm>
          <a:prstGeom prst="rect">
            <a:avLst/>
          </a:prstGeom>
          <a:solidFill>
            <a:srgbClr val="FFF4E6"/>
          </a:solidFill>
          <a:ln w="25400">
            <a:solidFill>
              <a:srgbClr val="E6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5486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dirty="0">
                <a:solidFill>
                  <a:srgbClr val="E6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 central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política atual (2 semanas de cobertura fixa) </a:t>
            </a: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superdimensiona ES em 86% em F1 e 48% em F2. </a:t>
            </a:r>
            <a:r>
              <a:rPr lang="en-US" sz="13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 F1, isso são ~5.200 </a:t>
            </a:r>
            <a:r>
              <a:rPr lang="en-US" sz="1300" dirty="0" err="1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unidades</a:t>
            </a:r>
            <a:r>
              <a:rPr lang="en-US" sz="13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extra × R$ 8,50 = </a:t>
            </a:r>
            <a:r>
              <a:rPr lang="en-US" sz="1300" b="1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R$ 44 mil de capital parado </a:t>
            </a:r>
            <a:r>
              <a:rPr lang="en-US" sz="13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e pior: produto com shelf life de 7 dias não sobrevive 2 semanas de cobertura → alimenta o descarte.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682"/>
          </a:solidFill>
          <a:ln w="12700">
            <a:solidFill>
              <a:srgbClr val="1E46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9905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e próximos passos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20095" y="228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Vila Aurora — Relatório Parcial 1  •  ENG4550 PI5  •  Abril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 nos Blocos 1 e 2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Diagnóstico estruturado em 4 camadas com sintomas quantificados dos 24 meses históricos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Benchmark de 7 modelos × 5 famílias — recomendação por perfil de demanda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Cadeia causal quantificada: R$ 278k/ano de custo de falhas só em F1 + F2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Política atual superdimensiona ES em 48-86% → capital parado E descarte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11277295" cy="1828800"/>
          </a:xfrm>
          <a:prstGeom prst="rect">
            <a:avLst/>
          </a:prstGeom>
          <a:solidFill>
            <a:srgbClr val="F5F8FB"/>
          </a:solidFill>
          <a:ln w="12700">
            <a:solidFill>
              <a:srgbClr val="1E46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40233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blocos  →  Q10 a Q15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31520" y="448056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7D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5262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846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Dilemas de trade-off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1663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serviço × custo × ESG × multicanal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20440" y="448056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7D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20440" y="45262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11880" y="4846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de políticas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11880" y="51663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revisão contínua vs periódica sob cenários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448056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7D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09360" y="45262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4846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virada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51663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simulação Monte Carlo e fronteira eficiente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98280" y="448056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7D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098280" y="45262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Q13-15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89720" y="4846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S&amp;OE + Dashboard + Roadmap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9720" y="51663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matriz de riscos, gatilhos, 90 dias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E46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Obrigado  •  João  •  Lucas  •  Gabriel  •  Felipe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1888</Words>
  <Application>Microsoft Office PowerPoint</Application>
  <PresentationFormat>Widescreen</PresentationFormat>
  <Paragraphs>221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PUC-Rio / ENG4550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Vila Aurora - Parcial 1</dc:title>
  <dc:subject>PptxGenJS Presentation</dc:subject>
  <dc:creator>Grupo 09 - PI5</dc:creator>
  <cp:lastModifiedBy>Joao Almeida</cp:lastModifiedBy>
  <cp:revision>2</cp:revision>
  <dcterms:created xsi:type="dcterms:W3CDTF">2026-04-21T22:47:27Z</dcterms:created>
  <dcterms:modified xsi:type="dcterms:W3CDTF">2026-04-21T23:02:18Z</dcterms:modified>
</cp:coreProperties>
</file>